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Open Sans Hebrew Bold" charset="1" panose="00000800000000000000"/>
      <p:regular r:id="rId20"/>
    </p:embeddedFont>
    <p:embeddedFont>
      <p:font typeface="Open Sans Hebrew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977741"/>
            <a:ext cx="13716000" cy="3581400"/>
            <a:chOff x="0" y="0"/>
            <a:chExt cx="18288000" cy="47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23" r="0" b="-246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46704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143500"/>
            <a:ext cx="16230600" cy="2999631"/>
            <a:chOff x="0" y="0"/>
            <a:chExt cx="21640800" cy="3999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40798" cy="3999505"/>
            </a:xfrm>
            <a:custGeom>
              <a:avLst/>
              <a:gdLst/>
              <a:ahLst/>
              <a:cxnLst/>
              <a:rect r="r" b="b" t="t" l="l"/>
              <a:pathLst>
                <a:path h="3999505" w="21640798">
                  <a:moveTo>
                    <a:pt x="0" y="0"/>
                  </a:moveTo>
                  <a:lnTo>
                    <a:pt x="21640798" y="0"/>
                  </a:lnTo>
                  <a:lnTo>
                    <a:pt x="21640798" y="3999505"/>
                  </a:lnTo>
                  <a:lnTo>
                    <a:pt x="0" y="3999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56" r="35484" b="-118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640800" cy="4009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Project Name: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 Helix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Tagline: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 A real-time financial intelligence system that predicts cash flow, assesses risk, and guides smarter spending decisions.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Team Name: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 Ocular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Event: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 DevCraft: Simon’s Command Line (or your event name)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Date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: 06/04/2026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Domain: Fintech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92763" y="646693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</a:t>
              </a: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88489" y="3089745"/>
            <a:ext cx="12911023" cy="5866656"/>
            <a:chOff x="0" y="0"/>
            <a:chExt cx="17214697" cy="78222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14697" cy="7822202"/>
            </a:xfrm>
            <a:custGeom>
              <a:avLst/>
              <a:gdLst/>
              <a:ahLst/>
              <a:cxnLst/>
              <a:rect r="r" b="b" t="t" l="l"/>
              <a:pathLst>
                <a:path h="7822202" w="17214697">
                  <a:moveTo>
                    <a:pt x="0" y="0"/>
                  </a:moveTo>
                  <a:lnTo>
                    <a:pt x="17214697" y="0"/>
                  </a:lnTo>
                  <a:lnTo>
                    <a:pt x="17214697" y="7822202"/>
                  </a:lnTo>
                  <a:lnTo>
                    <a:pt x="0" y="7822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1" r="18896" b="4279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214697" cy="7831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UPI has made transactions effortless, but financial awareness hasn’t kept up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Users only see past spending, not future consequences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answer to: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“How long will my money last?”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“Can I afford this decision?”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Manual tracking is inconsistent → users eventually stop using apps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Result: People run out of money without warning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864245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Target Audience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08336" y="3234110"/>
            <a:ext cx="10471328" cy="3818781"/>
            <a:chOff x="0" y="0"/>
            <a:chExt cx="13961770" cy="50917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61769" cy="5091704"/>
            </a:xfrm>
            <a:custGeom>
              <a:avLst/>
              <a:gdLst/>
              <a:ahLst/>
              <a:cxnLst/>
              <a:rect r="r" b="b" t="t" l="l"/>
              <a:pathLst>
                <a:path h="5091704" w="13961769">
                  <a:moveTo>
                    <a:pt x="0" y="0"/>
                  </a:moveTo>
                  <a:lnTo>
                    <a:pt x="13961769" y="0"/>
                  </a:lnTo>
                  <a:lnTo>
                    <a:pt x="13961769" y="5091704"/>
                  </a:lnTo>
                  <a:lnTo>
                    <a:pt x="0" y="5091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74" r="0" b="1211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3961770" cy="510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Students managing limited budgets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Freelancers with irregular income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Gig workers (delivery, creators, etc.)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Early professionals with poor financial planning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Common traits: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High UPI usage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structured financial planning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Need simple, actionable insights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Existing Solutions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47185" y="2827782"/>
            <a:ext cx="5358846" cy="5047506"/>
            <a:chOff x="0" y="0"/>
            <a:chExt cx="7145128" cy="6730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45127" cy="6730003"/>
            </a:xfrm>
            <a:custGeom>
              <a:avLst/>
              <a:gdLst/>
              <a:ahLst/>
              <a:cxnLst/>
              <a:rect r="r" b="b" t="t" l="l"/>
              <a:pathLst>
                <a:path h="6730003" w="7145127">
                  <a:moveTo>
                    <a:pt x="0" y="0"/>
                  </a:moveTo>
                  <a:lnTo>
                    <a:pt x="7145127" y="0"/>
                  </a:lnTo>
                  <a:lnTo>
                    <a:pt x="7145127" y="6730003"/>
                  </a:lnTo>
                  <a:lnTo>
                    <a:pt x="0" y="673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55" r="-95402" b="335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145128" cy="6739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Walnut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Money View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ET Money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What they do: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Track expenses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Categorize spending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Provide budgeting tools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Limitation: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Focus on history, not future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Gaps &amp; Opportunities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21580" y="3080195"/>
            <a:ext cx="9694355" cy="3409206"/>
            <a:chOff x="0" y="0"/>
            <a:chExt cx="12925807" cy="4545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5806" cy="4545605"/>
            </a:xfrm>
            <a:custGeom>
              <a:avLst/>
              <a:gdLst/>
              <a:ahLst/>
              <a:cxnLst/>
              <a:rect r="r" b="b" t="t" l="l"/>
              <a:pathLst>
                <a:path h="4545605" w="12925806">
                  <a:moveTo>
                    <a:pt x="0" y="0"/>
                  </a:moveTo>
                  <a:lnTo>
                    <a:pt x="12925806" y="0"/>
                  </a:lnTo>
                  <a:lnTo>
                    <a:pt x="12925806" y="4545605"/>
                  </a:lnTo>
                  <a:lnTo>
                    <a:pt x="0" y="4545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4" r="-8014" b="15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925807" cy="4555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prediction of cash runway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decision-making support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Not designed for unstable income patterns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unified financial risk score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Opportunity: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 Shift from “tracking money” → “guiding decisions”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Your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799082"/>
            <a:ext cx="9694355" cy="5047506"/>
            <a:chOff x="0" y="0"/>
            <a:chExt cx="12925807" cy="6730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5806" cy="6730003"/>
            </a:xfrm>
            <a:custGeom>
              <a:avLst/>
              <a:gdLst/>
              <a:ahLst/>
              <a:cxnLst/>
              <a:rect r="r" b="b" t="t" l="l"/>
              <a:pathLst>
                <a:path h="6730003" w="12925806">
                  <a:moveTo>
                    <a:pt x="0" y="0"/>
                  </a:moveTo>
                  <a:lnTo>
                    <a:pt x="12925806" y="0"/>
                  </a:lnTo>
                  <a:lnTo>
                    <a:pt x="12925806" y="6730003"/>
                  </a:lnTo>
                  <a:lnTo>
                    <a:pt x="0" y="673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55" r="-8014" b="335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925807" cy="6739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AI Financial Survival Engine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A system that: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Predicts how long a user’s money will last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Calculates a real-time financial risk score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Allows users to simulate financial decisions before making them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Integrates expenses and assets (such as stocks)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Focus: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Financial survival and decision-making, not just tracking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10629" y="1569086"/>
            <a:ext cx="6880412" cy="4257255"/>
          </a:xfrm>
          <a:custGeom>
            <a:avLst/>
            <a:gdLst/>
            <a:ahLst/>
            <a:cxnLst/>
            <a:rect r="r" b="b" t="t" l="l"/>
            <a:pathLst>
              <a:path h="4257255" w="6880412">
                <a:moveTo>
                  <a:pt x="0" y="0"/>
                </a:moveTo>
                <a:lnTo>
                  <a:pt x="6880412" y="0"/>
                </a:lnTo>
                <a:lnTo>
                  <a:pt x="6880412" y="4257255"/>
                </a:lnTo>
                <a:lnTo>
                  <a:pt x="0" y="4257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58128" y="5982014"/>
            <a:ext cx="4985414" cy="4193980"/>
          </a:xfrm>
          <a:custGeom>
            <a:avLst/>
            <a:gdLst/>
            <a:ahLst/>
            <a:cxnLst/>
            <a:rect r="r" b="b" t="t" l="l"/>
            <a:pathLst>
              <a:path h="4193980" w="4985414">
                <a:moveTo>
                  <a:pt x="0" y="0"/>
                </a:moveTo>
                <a:lnTo>
                  <a:pt x="4985414" y="0"/>
                </a:lnTo>
                <a:lnTo>
                  <a:pt x="4985414" y="4193979"/>
                </a:lnTo>
                <a:lnTo>
                  <a:pt x="0" y="419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71367" y="6520538"/>
            <a:ext cx="4345266" cy="3655455"/>
          </a:xfrm>
          <a:custGeom>
            <a:avLst/>
            <a:gdLst/>
            <a:ahLst/>
            <a:cxnLst/>
            <a:rect r="r" b="b" t="t" l="l"/>
            <a:pathLst>
              <a:path h="3655455" w="4345266">
                <a:moveTo>
                  <a:pt x="0" y="0"/>
                </a:moveTo>
                <a:lnTo>
                  <a:pt x="4345266" y="0"/>
                </a:lnTo>
                <a:lnTo>
                  <a:pt x="4345266" y="3655455"/>
                </a:lnTo>
                <a:lnTo>
                  <a:pt x="0" y="3655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578056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63080" y="2619747"/>
            <a:ext cx="7503291" cy="5047506"/>
            <a:chOff x="0" y="0"/>
            <a:chExt cx="10004388" cy="6730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04388" cy="6730003"/>
            </a:xfrm>
            <a:custGeom>
              <a:avLst/>
              <a:gdLst/>
              <a:ahLst/>
              <a:cxnLst/>
              <a:rect r="r" b="b" t="t" l="l"/>
              <a:pathLst>
                <a:path h="6730003" w="10004388">
                  <a:moveTo>
                    <a:pt x="0" y="0"/>
                  </a:moveTo>
                  <a:lnTo>
                    <a:pt x="10004388" y="0"/>
                  </a:lnTo>
                  <a:lnTo>
                    <a:pt x="10004388" y="6730003"/>
                  </a:lnTo>
                  <a:lnTo>
                    <a:pt x="0" y="673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55" r="-39556" b="335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004388" cy="6739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Smart Dashboard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Days until money runs out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Risk score (0–100)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Spending trend visualization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Transaction Simulator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UPI-style payment interface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Immediate financial impact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Decision Simulator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Test any expense before making it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Shows updated risk and remaining days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72407" y="2619747"/>
            <a:ext cx="7503291" cy="3409206"/>
            <a:chOff x="0" y="0"/>
            <a:chExt cx="10004388" cy="4545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04388" cy="4545605"/>
            </a:xfrm>
            <a:custGeom>
              <a:avLst/>
              <a:gdLst/>
              <a:ahLst/>
              <a:cxnLst/>
              <a:rect r="r" b="b" t="t" l="l"/>
              <a:pathLst>
                <a:path h="4545605" w="10004388">
                  <a:moveTo>
                    <a:pt x="0" y="0"/>
                  </a:moveTo>
                  <a:lnTo>
                    <a:pt x="10004388" y="0"/>
                  </a:lnTo>
                  <a:lnTo>
                    <a:pt x="10004388" y="4545605"/>
                  </a:lnTo>
                  <a:lnTo>
                    <a:pt x="0" y="4545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4" r="-39556" b="15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004388" cy="4555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Stock Portfolio Integration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Track investments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Understand impact on financial stability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Real Time Updates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Instant feedback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 manual refresh required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46928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55029" y="2518740"/>
            <a:ext cx="16189848" cy="1077543"/>
            <a:chOff x="0" y="0"/>
            <a:chExt cx="21586465" cy="14367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86464" cy="1436723"/>
            </a:xfrm>
            <a:custGeom>
              <a:avLst/>
              <a:gdLst/>
              <a:ahLst/>
              <a:cxnLst/>
              <a:rect r="r" b="b" t="t" l="l"/>
              <a:pathLst>
                <a:path h="1436723" w="21586464">
                  <a:moveTo>
                    <a:pt x="0" y="0"/>
                  </a:moveTo>
                  <a:lnTo>
                    <a:pt x="21586464" y="0"/>
                  </a:lnTo>
                  <a:lnTo>
                    <a:pt x="21586464" y="1436723"/>
                  </a:lnTo>
                  <a:lnTo>
                    <a:pt x="0" y="1436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45" r="35321" b="-2114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586465" cy="1446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User Action → API (Node.js) → Database (PostgreSQL) → </a:t>
              </a: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Financial Engine →WebSocket → UI Update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55029" y="3843934"/>
            <a:ext cx="16189848" cy="1770906"/>
            <a:chOff x="0" y="0"/>
            <a:chExt cx="21586465" cy="23612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86464" cy="2361206"/>
            </a:xfrm>
            <a:custGeom>
              <a:avLst/>
              <a:gdLst/>
              <a:ahLst/>
              <a:cxnLst/>
              <a:rect r="r" b="b" t="t" l="l"/>
              <a:pathLst>
                <a:path h="2361206" w="21586464">
                  <a:moveTo>
                    <a:pt x="0" y="0"/>
                  </a:moveTo>
                  <a:lnTo>
                    <a:pt x="21586464" y="0"/>
                  </a:lnTo>
                  <a:lnTo>
                    <a:pt x="21586464" y="2361206"/>
                  </a:lnTo>
                  <a:lnTo>
                    <a:pt x="0" y="2361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16" r="35321" b="-895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586465" cy="2370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Key Points: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Event-driven architecture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Real-time processing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Modular and scalable design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23118" y="2579151"/>
            <a:ext cx="9492342" cy="6276231"/>
            <a:chOff x="0" y="0"/>
            <a:chExt cx="12656456" cy="83683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56455" cy="8368302"/>
            </a:xfrm>
            <a:custGeom>
              <a:avLst/>
              <a:gdLst/>
              <a:ahLst/>
              <a:cxnLst/>
              <a:rect r="r" b="b" t="t" l="l"/>
              <a:pathLst>
                <a:path h="8368302" w="12656455">
                  <a:moveTo>
                    <a:pt x="0" y="0"/>
                  </a:moveTo>
                  <a:lnTo>
                    <a:pt x="12656455" y="0"/>
                  </a:lnTo>
                  <a:lnTo>
                    <a:pt x="12656455" y="8368302"/>
                  </a:lnTo>
                  <a:lnTo>
                    <a:pt x="0" y="83683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45" r="-10313" b="465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656456" cy="8377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Frontend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Next.js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Tailwind CSS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Framer Motion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Backend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Node.js with Express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PostgreSQL with Prisma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Socket.io for real-time communication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AI Layer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Cashflow prediction logic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Risk scoring system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Extendable to machine learning models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38657" y="2827782"/>
            <a:ext cx="9492342" cy="4228356"/>
            <a:chOff x="0" y="0"/>
            <a:chExt cx="12656456" cy="5637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56455" cy="5637804"/>
            </a:xfrm>
            <a:custGeom>
              <a:avLst/>
              <a:gdLst/>
              <a:ahLst/>
              <a:cxnLst/>
              <a:rect r="r" b="b" t="t" l="l"/>
              <a:pathLst>
                <a:path h="5637804" w="12656455">
                  <a:moveTo>
                    <a:pt x="0" y="0"/>
                  </a:moveTo>
                  <a:lnTo>
                    <a:pt x="12656455" y="0"/>
                  </a:lnTo>
                  <a:lnTo>
                    <a:pt x="12656455" y="5637804"/>
                  </a:lnTo>
                  <a:lnTo>
                    <a:pt x="0" y="56378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36" r="-10313" b="206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656456" cy="5647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User performs a transaction or simulation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Data is sent to backend and stored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Financial engine computes: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spending rate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risk score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remaining days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Results are pushed to frontend via WebSocket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UI updates instantly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User adjusts decisions based on insights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51459" y="3076413"/>
            <a:ext cx="9492342" cy="3409206"/>
            <a:chOff x="0" y="0"/>
            <a:chExt cx="12656456" cy="4545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56455" cy="4545605"/>
            </a:xfrm>
            <a:custGeom>
              <a:avLst/>
              <a:gdLst/>
              <a:ahLst/>
              <a:cxnLst/>
              <a:rect r="r" b="b" t="t" l="l"/>
              <a:pathLst>
                <a:path h="4545605" w="12656455">
                  <a:moveTo>
                    <a:pt x="0" y="0"/>
                  </a:moveTo>
                  <a:lnTo>
                    <a:pt x="12656455" y="0"/>
                  </a:lnTo>
                  <a:lnTo>
                    <a:pt x="12656455" y="4545605"/>
                  </a:lnTo>
                  <a:lnTo>
                    <a:pt x="0" y="4545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4" r="-10313" b="15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656456" cy="4555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Prevents users from running out of money unexpectedly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Encourages informed financial decisions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Improves financial awareness across diverse user groups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Scales easily without dependency on bank integrations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28700"/>
            <a:ext cx="13716000" cy="1799082"/>
            <a:chOff x="0" y="0"/>
            <a:chExt cx="18288000" cy="2398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7" r="0" b="-1480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92603" y="2827782"/>
            <a:ext cx="9492342" cy="2590056"/>
            <a:chOff x="0" y="0"/>
            <a:chExt cx="12656456" cy="3453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56455" cy="3453405"/>
            </a:xfrm>
            <a:custGeom>
              <a:avLst/>
              <a:gdLst/>
              <a:ahLst/>
              <a:cxnLst/>
              <a:rect r="r" b="b" t="t" l="l"/>
              <a:pathLst>
                <a:path h="3453405" w="12656455">
                  <a:moveTo>
                    <a:pt x="0" y="0"/>
                  </a:moveTo>
                  <a:lnTo>
                    <a:pt x="12656455" y="0"/>
                  </a:lnTo>
                  <a:lnTo>
                    <a:pt x="12656455" y="3453405"/>
                  </a:lnTo>
                  <a:lnTo>
                    <a:pt x="0" y="3453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6" r="-10313" b="-295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656456" cy="3462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Integration with UPI and financial data aggregators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Personalized AI financial advisor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Credit scoring for users without formal history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Integration with lending and insurance systems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Advanced behavioral financial analysis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403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977741"/>
            <a:ext cx="13716000" cy="3581400"/>
            <a:chOff x="0" y="0"/>
            <a:chExt cx="18288000" cy="47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23" r="0" b="-246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18288000" cy="46704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Info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4311" y="4786092"/>
            <a:ext cx="3868571" cy="2211375"/>
            <a:chOff x="0" y="0"/>
            <a:chExt cx="5158095" cy="294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8093" cy="2948505"/>
            </a:xfrm>
            <a:custGeom>
              <a:avLst/>
              <a:gdLst/>
              <a:ahLst/>
              <a:cxnLst/>
              <a:rect r="r" b="b" t="t" l="l"/>
              <a:pathLst>
                <a:path h="2948505" w="5158093">
                  <a:moveTo>
                    <a:pt x="0" y="0"/>
                  </a:moveTo>
                  <a:lnTo>
                    <a:pt x="5158093" y="0"/>
                  </a:lnTo>
                  <a:lnTo>
                    <a:pt x="5158093" y="2948505"/>
                  </a:lnTo>
                  <a:lnTo>
                    <a:pt x="0" y="2948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793" t="0" r="-1088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5158095" cy="292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Member 1: 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Shanthan T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000000"/>
                  </a:solidFill>
                  <a:latin typeface="Open Sans Hebrew Bold"/>
                  <a:ea typeface="Open Sans Hebrew Bold"/>
                  <a:cs typeface="Open Sans Hebrew Bold"/>
                  <a:sym typeface="Open Sans Hebrew Bold"/>
                </a:rPr>
                <a:t>Member 2: </a:t>
              </a:r>
              <a:r>
                <a:rPr lang="en-US" sz="2700">
                  <a:solidFill>
                    <a:srgbClr val="000000"/>
                  </a:solidFill>
                  <a:latin typeface="Open Sans Hebrew"/>
                  <a:ea typeface="Open Sans Hebrew"/>
                  <a:cs typeface="Open Sans Hebrew"/>
                  <a:sym typeface="Open Sans Hebrew"/>
                </a:rPr>
                <a:t>Varun 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DAHGEZKRsRQ</dc:identifier>
  <dcterms:modified xsi:type="dcterms:W3CDTF">2011-08-01T06:04:30Z</dcterms:modified>
  <cp:revision>1</cp:revision>
  <dc:title>Ocular</dc:title>
</cp:coreProperties>
</file>